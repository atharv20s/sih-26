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B244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94360"/>
            <a:ext cx="566928" cy="566928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12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PRAHARI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704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Reliability &amp; Health Assessment for Rotary Intelligence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Agentic, Physics-Informed Digital Twin for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 UAV Aero Piston Engines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TAPAS-BH-201 MALE UAV  ·  Rotax 914F Aero Piston Engine  ·  DRDO Reliability &amp; Mission Assurance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5943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5623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7872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5943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Drones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5623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1072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5943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69680" y="5623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34272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034272" y="5943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Name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Approaches Fail Military-Grade MALE UAV Engines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SIH26054 · PRAHARI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36776"/>
            <a:ext cx="566928" cy="566928"/>
          </a:xfrm>
          <a:prstGeom prst="ellipse">
            <a:avLst/>
          </a:prstGeom>
          <a:solidFill>
            <a:srgbClr val="5B7F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636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12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Data-Driven RUL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8196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Transformer on C-MAPSS-style data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49047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pPr indent="0" marL="0"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non-linear sensor correlations without needing engine thermodynamics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149047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flaw: </a:t>
            </a:r>
            <a:pPr indent="0" marL="0"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output thermodynamically impossible predictions under unseen conditions (e.g. sudden high-altitude pressure drop)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96312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715768"/>
            <a:ext cx="566928" cy="566928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12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587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PINNs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2898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Neural Networks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5694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pPr indent="0" marL="0"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interpretability, strictly obeys thermal/structural laws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569464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flaw: </a:t>
            </a:r>
            <a:pPr indent="0" marL="0"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&amp; compute-heavy online; solves forward equations well but can't do active, multi-objective, closed-loop decisions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75304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794760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12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6667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Deep RL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control / prognostics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364845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pPr indent="0" marL="0"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sequential decision-making, adaptive optimization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3648456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flaw: </a:t>
            </a:r>
            <a:pPr indent="0" marL="0"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exploration — trial-and-error behavior is unacceptable in a live military UAV engine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654296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873752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" y="4873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12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4745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Digital Twins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5056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state-estimation / anomaly / RUL blocks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434840" y="47274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pPr indent="0" marL="0"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debuggable software engineering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01000" y="472744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flaw: </a:t>
            </a:r>
            <a:pPr indent="0" marL="0"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 propagation — a null/delayed payload from one module is silently treated as “nominal” downstream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751576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75157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paradigm gives physical trustworthiness AND adaptive decision-making AND fault-tolerant orchestration at once — PRAHARI is the first to combine all three.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PRAHARI: An Agentic Physics-Informed Digital Twin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SIH26054 · PRAHARI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E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417320"/>
            <a:ext cx="10515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digital twin that fuses a Physics-Informed Neural Network, an ensemble fault classifier, safety-shielded Deep RL, and a LangGraph-orchestrated AI agent — with an autonomous LLM advisor layer — to predict, explain, and safely act on aero piston engine health, with zero tolerance for silent failure.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715768"/>
            <a:ext cx="457200" cy="457200"/>
          </a:xfrm>
          <a:prstGeom prst="ellipse">
            <a:avLst/>
          </a:prstGeom>
          <a:solidFill>
            <a:srgbClr val="5B7F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609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 Ingestion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2644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stream — RPM, CHT, EGT, oil pressure, fuel flow, vibration, MAP, AFR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2514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2715768"/>
            <a:ext cx="457200" cy="457200"/>
          </a:xfrm>
          <a:prstGeom prst="ellipse">
            <a:avLst/>
          </a:prstGeom>
          <a:solidFill>
            <a:srgbClr val="22D3C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4456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6609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Physics-Constrained Anomaly Detection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32644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layer enforces thermodynamic law inside the loss function itself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2514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39328" y="271576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3932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26609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Fault Classification + DRL RUL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39328" y="32644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voting classifier + safety-shielded DRL prognostic strategist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31596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261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Intent-Routed Diagnostic Agent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8646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router with a hash-chained audit log for tamper-evident traceability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4114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44568" y="4315968"/>
            <a:ext cx="457200" cy="457200"/>
          </a:xfrm>
          <a:prstGeom prst="ellipse">
            <a:avLst/>
          </a:prstGeom>
          <a:solidFill>
            <a:srgbClr val="9B6BD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4456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261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Digital Twin + Mission Map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44568" y="48646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engine view with live heatmaps, plus a geospatial mission command view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4114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39328" y="4315968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33932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15400" y="4261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Advisor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339328" y="48646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live defense-layer state and can trigger its own diagnostic branch — orchestrator-control, not just chat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APPROACH, ARCHITECTURE &amp; MATH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 → Ensemble → DRL → Agentic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SIH26054 · PRAHARI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5B7FD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463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41448" y="14630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22D3C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41448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1463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34256" y="14630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22D3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34256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Check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25896" y="1463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7064" y="14630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27064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+ DRL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918704" y="1463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19872" y="14630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5A6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19872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Safe-Mode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811512" y="14630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12680" y="14630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E548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126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Twin + Map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Advisor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10 Hz safety loop (above) runs every frame. A second, on-demand LangGraph intent router (sensor integrity / thermal stress / root-cause diagnostic) is directly triggerable from the ground station for deep-dive diagnostics.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2880360"/>
            <a:ext cx="54864" cy="566928"/>
          </a:xfrm>
          <a:prstGeom prst="rect">
            <a:avLst/>
          </a:prstGeom>
          <a:solidFill>
            <a:srgbClr val="22D3C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2834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Layer — “Physics Guardian”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31272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estimator of structural/thermal stress; forces predictions to obey Fourier's law of heat conduction and gas-law transformations.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593592"/>
            <a:ext cx="54864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9808" y="35478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+ DRL — “Prognostic Strategist”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38404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voting classifier feeds a safety-shielded DRL policy; action space is boundary-constrained by the PINN's physical residual.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306824"/>
            <a:ext cx="54864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" y="4261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— “Orchestrator”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49808" y="4553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between tools with conditional edges, not a one-way pipeline — catches and halts anomalies mid-process instead of passing them downstream.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28346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2944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MATHEMATICS — PINN LOSS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3218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L_Total = L_Data + λ · L_Physics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L_Physics = (1/N) Σ | ∂T/∂t − α∇²T − q_combustion |²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39136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any predicted temperature trajectory that violates real heat-transfer physics — the network literally cannot output an impossible reading.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3218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971800" y="5321808"/>
            <a:ext cx="8641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PINN + ensemble classifier + safety-shielded DRL (PPO)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56412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Agent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2971800" y="5564124"/>
            <a:ext cx="8641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(conditional routing) · GLM-4.5 LLM advisor (orchestrator-control, rate-limited)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8064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2971800" y="5806440"/>
            <a:ext cx="8641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WebSockets · SQLAlchemy on Neon Postgres, SQLite offline fallback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04875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Integrity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2971800" y="6048756"/>
            <a:ext cx="8641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(httpOnly cookie), bcrypt · SHA-256 hash-chained audit log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29107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2971800" y="6291072"/>
            <a:ext cx="8641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WebGL 3D twin (custom shaders) · SVG geospatial Mission Map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Running, and Demo-Safe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SIH26054 · PRAHARI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30168" cy="27432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C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1600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57400"/>
            <a:ext cx="3264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frameworks (PyTorch, FastAPI, LangGraph, Three.js) — no proprietary dependency risk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and DRL are established techniques individually; novelty is in the orchestrated combination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C-MAPSS-style datasets allow development/validation without live UAV hardware access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bootstrap script (setup.sh / setup.ps1) — reproducible in minutes, not a fragile local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630168" cy="27432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1600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9472" y="1600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(DRDO context)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057400"/>
            <a:ext cx="3264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near-zero downtime need for military-grade MALE UAV engines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Auditor is specifically designed to prevent silent “nominal” misreporting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— PINN / classifier / DRL / agent tools upgrade independently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Demo-safety fallback: SQLite if Postgres is unreachable, AI Advisor auto-hides if GLM is unreachable — a venue wifi drop never kills a live run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01584" y="1417320"/>
            <a:ext cx="3630168" cy="27432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600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95944" y="1600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057400"/>
            <a:ext cx="3264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keeps licensing cost near zero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(PINN + DRL) is manageable at prototype/demo scale; edge-inference optimization is a clear future-work item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is hard rate-limited (8 calls/hour) — a deliberate cost control, not a technical ceiling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9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failures early reduces long-term cost vs. unscheduled field maintenance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26864"/>
            <a:ext cx="11064240" cy="402336"/>
          </a:xfrm>
          <a:prstGeom prst="roundRect">
            <a:avLst>
              <a:gd name="adj" fmla="val 11364"/>
            </a:avLst>
          </a:prstGeom>
          <a:solidFill>
            <a:srgbClr val="FFF4E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62686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83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real-world accuracy is 46.7% — a leakage bug had inflated earlier self-reported numbers to 100%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626864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83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Root-caused and documented in MODEL_CARD.md; dashboard shows the honest number; retraining fix in progress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48640" y="5084064"/>
            <a:ext cx="11064240" cy="402336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508406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83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training instability on real noisy telemetry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5084064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83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simulator-validated data, progressively introduce noise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48640" y="5541264"/>
            <a:ext cx="11064240" cy="402336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554126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83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reward mis-specification leading to unsafe suggestions</a:t>
            </a:r>
            <a:endParaRPr lang="en-US" sz="83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5541264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83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physics-based action boundary from PINN (already part of design)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48640" y="5998464"/>
            <a:ext cx="11064240" cy="402336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599846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83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dependency (Postgres / GLM API) during a live demo</a:t>
            </a:r>
            <a:endParaRPr lang="en-US" sz="83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5998464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83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fallback + AI Advisor auto-hide — implemented and tested end-to-end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Maintenance to Predictive Mission Assurance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SIH26054 · PRAHARI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IMPACT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mid-flight engine failure by catching anomalies before they cascade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ground stations actionable RUL data for real-time go/no-go and recovery-maneuver decisions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“silent failure” risk that plagues conventional modular digital twins — a safety improvement, not just a performance one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Map ties engine health to geographic/mission context — the same fault reacting live across dashboard, live-ops console and map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/ DEFENCE IMPACT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7373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unplanned downtime → higher UAV fleet availability for missions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Physics-constrained predictions build trust for safety-critical, high-stakes defence systems, unlike black-box-only ML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AI-triggered diagnostic is hash-chain audited — tamper-evident, traceable decision history for post-mission review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to other DRDO aero-propulsion systems (turboprop, hybrid-electric UAV powertrains) as future scope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DF3F3"/>
          </a:solidFill>
          <a:ln w="12700">
            <a:solidFill>
              <a:srgbClr val="F3D3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MODULAR PIPELINE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Anomaly → RUL   ✗ module fails silently → downstream treats it as “nominal” → mid-flight surprise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41605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EAFBF6"/>
          </a:solidFill>
          <a:ln w="12700">
            <a:solidFill>
              <a:srgbClr val="BEE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AGENTIC DIGITAL TWIN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Auditor catches malformed payload → halts &amp; flags → safe-mode gate engages → operator alerted with traceable reason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framing below is presented as directional design targets validated in our own test harness — not claimed field-validated results.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Literature, Datasets &amp; Tooling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SIH26054 · PRAHARI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Deep learning (LSTM/Attention) approaches to Remaining Useful Life prediction using C-MAPSS-style aero-propulsion prognostics benchmarks (MDPI/IEEE shared benchmarks).</a:t>
            </a:r>
            <a:endParaRPr lang="en-US" sz="1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Hybrid digital twin approaches combining Kalman filtering with multi-layer perceptrons for electric/piston aircraft engines.</a:t>
            </a:r>
            <a:endParaRPr lang="en-US" sz="1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Online-adaptive Physics-Informed Neural Network frameworks for remaining-useful-life prediction.</a:t>
            </a:r>
            <a:endParaRPr lang="en-US" sz="1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Digital twin frameworks for UAV-assisted edge environments (IEEE Transactions), covering modular health/sensing/trajectory pipelines.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5544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NASA C-MAPSS (Commercial Modular Aero-Propulsion System Simulation) dataset — reference dataset class for engine degradation simulation.</a:t>
            </a:r>
            <a:endParaRPr lang="en-US" sz="1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IEEE Dataport — supplementary aero-engine sensor data profiles.</a:t>
            </a:r>
            <a:endParaRPr lang="en-US" sz="1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LangGraph (LangChain AI) — stateful multi-agent orchestration framework used for the conditional diagnostic router.</a:t>
            </a:r>
            <a:endParaRPr lang="en-US" sz="1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30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GLM-4.5 (Zhipu AI) — LLM backing the rate-limited AI Advisor orchestrator-control layer.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FFF4E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author names, years and full IEEE-style citation formatting to be finalized against source papers before submission.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2026-09-15T17:09:58Z</dcterms:created>
  <dcterms:modified xsi:type="dcterms:W3CDTF">2026-09-15T17:09:58Z</dcterms:modified>
</cp:coreProperties>
</file>